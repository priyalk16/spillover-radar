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pillover Radar" id="{D0CD2A57-D051-8AFA-4ABA-2BF55A80CBA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77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animals often show trouble first; we connect that signal to climate and human data, explain it, and track the response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gaps. Keep the stats short; cite the One Health Joint Plan of Action and the 20th Livestock Census.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card to the challenge text. D.01 map, D.02 pipeline, D.03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that every data source is labelled live, CSV, scenario or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score is a heuristic composite; Isolation Forest and CUSUM confirm it. Weights need veterinary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views: weighted share of the score, and Isolation Forest occlusion attribution. Say association, not causation. Do not call it SHAP.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screenshot top to bottom: score, trend and what-if, two explanation views,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differentiator: detection is not enough, we track the response. Show the Simulate surge button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image is a prototype rendering; the live dashboard uses Leaflet with Esri or OpenStreetMap basemaps.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candid. The honesty is a strength. Lead time numbers here are on synthetic data and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team and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Spillover Radar  ·  VetTech Trio  ·  H4P-VC587GBK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37428" y="-548640"/>
            <a:ext cx="5852160" cy="58521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846320" y="274320"/>
            <a:ext cx="4206240" cy="420624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>
                <a:alpha val="37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669280" y="1097280"/>
            <a:ext cx="2560320" cy="256032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>
                <a:alpha val="29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1097280" cy="109728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>
                <a:alpha val="21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76288" y="230428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64008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572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HACK4PASHUDHAN  ·  VERDANT IMPACT  ·  TEAM ID H4P-VC587GBK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097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chemeClr val="bg1"/>
                </a:solidFill>
              </a:rPr>
              <a:t>Spillover Radar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65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One Health surveillance that links animal signals, climate and human health, explains every alert, and tracks the 48-hour response.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VetTech Trio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Parth Kantharia (4</a:t>
            </a:r>
            <a:r>
              <a:rPr lang="en-US" sz="1100" baseline="30000" dirty="0">
                <a:solidFill>
                  <a:srgbClr val="94A3B8"/>
                </a:solidFill>
              </a:rPr>
              <a:t>th</a:t>
            </a:r>
            <a:r>
              <a:rPr lang="en-US" sz="1100" dirty="0">
                <a:solidFill>
                  <a:srgbClr val="94A3B8"/>
                </a:solidFill>
              </a:rPr>
              <a:t> Year </a:t>
            </a:r>
            <a:r>
              <a:rPr lang="en-US" sz="1100" dirty="0" err="1">
                <a:solidFill>
                  <a:srgbClr val="94A3B8"/>
                </a:solidFill>
              </a:rPr>
              <a:t>B.V.Sc</a:t>
            </a:r>
            <a:r>
              <a:rPr lang="en-US" sz="1100" dirty="0">
                <a:solidFill>
                  <a:srgbClr val="94A3B8"/>
                </a:solidFill>
              </a:rPr>
              <a:t> Student Mumbai Veterinary College)  ·  Priyal Kantharia (ML Engineer)  ·  Rahul </a:t>
            </a:r>
            <a:r>
              <a:rPr lang="en-US" sz="1100" dirty="0" err="1">
                <a:solidFill>
                  <a:srgbClr val="94A3B8"/>
                </a:solidFill>
              </a:rPr>
              <a:t>Bhojkar</a:t>
            </a:r>
            <a:r>
              <a:rPr lang="en-US" sz="1100" dirty="0">
                <a:solidFill>
                  <a:srgbClr val="94A3B8"/>
                </a:solidFill>
              </a:rPr>
              <a:t> (Data &amp; ML)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THE CHALLENGE</a:t>
            </a:r>
            <a:endParaRPr lang="en-US" sz="9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Animal warning signs and human cases live in different systems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India has 535M+ livestock; zoonotic spillover is a district-level problem with no district-level shared view.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57200" y="1463040"/>
            <a:ext cx="2651760" cy="19202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accent"/>
          <p:cNvSpPr/>
          <p:nvPr/>
        </p:nvSpPr>
        <p:spPr>
          <a:xfrm>
            <a:off x="457200" y="1463040"/>
            <a:ext cx="64008" cy="1920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85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Fatal data silos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57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Animal cases sit in NADRES, human fever in IDSP/IHIP, weather in IMD. No shared district view.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3291840" y="1463040"/>
            <a:ext cx="2651760" cy="19202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accent"/>
          <p:cNvSpPr/>
          <p:nvPr/>
        </p:nvSpPr>
        <p:spPr>
          <a:xfrm>
            <a:off x="3291840" y="1463040"/>
            <a:ext cx="64008" cy="19202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3520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Late cross-sector awareness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057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Unusual livestock deaths or abortions can precede human cases, but no system links them early.</a:t>
            </a:r>
            <a:endParaRPr lang="en-US" sz="1150" dirty="0"/>
          </a:p>
        </p:txBody>
      </p:sp>
      <p:sp>
        <p:nvSpPr>
          <p:cNvPr id="14" name="card"/>
          <p:cNvSpPr/>
          <p:nvPr/>
        </p:nvSpPr>
        <p:spPr>
          <a:xfrm>
            <a:off x="6126480" y="1463040"/>
            <a:ext cx="2651760" cy="19202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accent"/>
          <p:cNvSpPr/>
          <p:nvPr/>
        </p:nvSpPr>
        <p:spPr>
          <a:xfrm>
            <a:off x="6126480" y="1463040"/>
            <a:ext cx="64008" cy="19202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63550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Alerts without reasons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057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Officers receive a flag without knowing what drove it, which slows verification.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60%+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178308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of emerging infectious diseases are zoonotic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29184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535M+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461772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livestock in India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100M+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745236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rural households depend on livestock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4348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Sources: WHO/WOAH/UNEP/FAO One Health Joint Plan of Action 2022-2026; 20th Livestock Census.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CHALLENGE ALIGNMENT</a:t>
            </a:r>
            <a:endParaRPr lang="en-US" sz="9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One platform covering all three deliverables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Every item below is implemented in the working prototype (run.py).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57200" y="1463040"/>
            <a:ext cx="2651760" cy="30632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accent"/>
          <p:cNvSpPr/>
          <p:nvPr/>
        </p:nvSpPr>
        <p:spPr>
          <a:xfrm>
            <a:off x="457200" y="1463040"/>
            <a:ext cx="64008" cy="30632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85800" y="1627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5"/>
                </a:solidFill>
              </a:rPr>
              <a:t>D.01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Geospatial heatmaps &amp; corridors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514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Risk-scored map markers + heatmap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Livestock corridors, width = volume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Corridor exposure index, 5 km buffers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Week replay and case replay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3291840" y="1463040"/>
            <a:ext cx="2651760" cy="30632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accent"/>
          <p:cNvSpPr/>
          <p:nvPr/>
        </p:nvSpPr>
        <p:spPr>
          <a:xfrm>
            <a:off x="3291840" y="1463040"/>
            <a:ext cx="64008" cy="3063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3520440" y="1627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D.02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Multi-sector data pipeline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514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Animal + human + climate per district-week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Live weather (Open-Meteo), CSV adapter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Completeness tracking, missing is not zero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Lag correlation animal vs human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6126480" y="1463040"/>
            <a:ext cx="2651760" cy="30632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accent"/>
          <p:cNvSpPr/>
          <p:nvPr/>
        </p:nvSpPr>
        <p:spPr>
          <a:xfrm>
            <a:off x="6126480" y="1463040"/>
            <a:ext cx="64008" cy="30632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6355080" y="1627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6"/>
                </a:solidFill>
              </a:rPr>
              <a:t>D.03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Early anomaly detection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2514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Weighted 0-100 risk score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Isolation Forest + CUSUM change-points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Two explanation views per district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2-week trend projection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From raw feeds to an explained, tracked alert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Five stages, one Python file, runs on a laptop.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57200" y="1463040"/>
            <a:ext cx="1499616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accent"/>
          <p:cNvSpPr/>
          <p:nvPr/>
        </p:nvSpPr>
        <p:spPr>
          <a:xfrm>
            <a:off x="457200" y="1463040"/>
            <a:ext cx="64008" cy="24688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12648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1  DATA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12648" y="192024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Animal: abortions, deaths, PPR/FMD, vaccination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Human: febrile illness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Climate: temp, rainfall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Simulated / CSV / case replay / Open-Meteo live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956816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card"/>
          <p:cNvSpPr/>
          <p:nvPr/>
        </p:nvSpPr>
        <p:spPr>
          <a:xfrm>
            <a:off x="2139696" y="1463040"/>
            <a:ext cx="1499616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accent"/>
          <p:cNvSpPr/>
          <p:nvPr/>
        </p:nvSpPr>
        <p:spPr>
          <a:xfrm>
            <a:off x="2139696" y="1463040"/>
            <a:ext cx="64008" cy="2468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2295144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  FUSION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295144" y="192024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District-week table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Completeness check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Missing is not zero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Lag correlation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card"/>
          <p:cNvSpPr/>
          <p:nvPr/>
        </p:nvSpPr>
        <p:spPr>
          <a:xfrm>
            <a:off x="3822192" y="1463040"/>
            <a:ext cx="1499616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accent"/>
          <p:cNvSpPr/>
          <p:nvPr/>
        </p:nvSpPr>
        <p:spPr>
          <a:xfrm>
            <a:off x="3822192" y="1463040"/>
            <a:ext cx="64008" cy="2468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397764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3  DETECTION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977640" y="192024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Weighted risk 0-100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Isolation Forest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CUSUM change-point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Attribution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321808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card"/>
          <p:cNvSpPr/>
          <p:nvPr/>
        </p:nvSpPr>
        <p:spPr>
          <a:xfrm>
            <a:off x="5504688" y="1463040"/>
            <a:ext cx="1499616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accent"/>
          <p:cNvSpPr/>
          <p:nvPr/>
        </p:nvSpPr>
        <p:spPr>
          <a:xfrm>
            <a:off x="5504688" y="1463040"/>
            <a:ext cx="64008" cy="2468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5660136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4  SERVER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0136" y="192024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Python http.server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GET /api/districts.json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POST report, ack, refresh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Alerts + webhook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004304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card"/>
          <p:cNvSpPr/>
          <p:nvPr/>
        </p:nvSpPr>
        <p:spPr>
          <a:xfrm>
            <a:off x="7187184" y="1463040"/>
            <a:ext cx="1499616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accent"/>
          <p:cNvSpPr/>
          <p:nvPr/>
        </p:nvSpPr>
        <p:spPr>
          <a:xfrm>
            <a:off x="7187184" y="1463040"/>
            <a:ext cx="64008" cy="2468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 txBox="1"/>
          <p:nvPr/>
        </p:nvSpPr>
        <p:spPr>
          <a:xfrm>
            <a:off x="7342632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5  DASHBOARD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342632" y="192024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Map + corridors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Explainability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Alert Center, 48 h clock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English / Hindi / Marathi</a:t>
            </a:r>
            <a:endParaRPr lang="en-US" sz="950" dirty="0"/>
          </a:p>
        </p:txBody>
      </p:sp>
      <p:sp>
        <p:nvSpPr>
          <p:cNvPr id="30" name="card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accent"/>
          <p:cNvSpPr/>
          <p:nvPr/>
        </p:nvSpPr>
        <p:spPr>
          <a:xfrm>
            <a:off x="457200" y="4114800"/>
            <a:ext cx="64008" cy="502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685800" y="42245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Planned, not yet built:  </a:t>
            </a:r>
            <a:r>
              <a:rPr lang="en-US" sz="1050" dirty="0">
                <a:solidFill>
                  <a:srgbClr val="64748B"/>
                </a:solidFill>
              </a:rPr>
              <a:t>NDVI and flood/drought indices, cattle-density normalisation, live NADRES/IDSP connectors, district polygons.</a:t>
            </a:r>
            <a:endParaRPr lang="en-US" sz="105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D.03  METHOD</a:t>
            </a:r>
            <a:endParaRPr lang="en-US" sz="9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Transparent score, plus two independent detectors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The 0-100 score is a readable composite; machine learning is a second opinion, not a black box.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297680" cy="3108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685800" y="1627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RISK SCORE (weekly, per district)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96596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VetDistress = 2.5×Abortions + 4.0×Deaths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+ 1.5×PPR/FMD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ClimateStress = 1.8×TempSpike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+ RainDeficit% / 15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VaccineGap = (1 − coverage) × 10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= 100 × ( 0.50·Vet + 0.25·Clim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+ 0.25·Gap 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Each term capped at its reference level (60 / 10 / 10)</a:t>
            </a:r>
            <a:endParaRPr lang="en-US" sz="950" dirty="0"/>
          </a:p>
        </p:txBody>
      </p:sp>
      <p:sp>
        <p:nvSpPr>
          <p:cNvPr id="10" name="card"/>
          <p:cNvSpPr/>
          <p:nvPr/>
        </p:nvSpPr>
        <p:spPr>
          <a:xfrm>
            <a:off x="4983480" y="1463040"/>
            <a:ext cx="3703320" cy="10515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accent"/>
          <p:cNvSpPr/>
          <p:nvPr/>
        </p:nvSpPr>
        <p:spPr>
          <a:xfrm>
            <a:off x="4983480" y="1463040"/>
            <a:ext cx="64008" cy="10515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21208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Isolation Forest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18745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300 trees on all district-weeks. Flags unusual combinations; counted only if risk is above the cohort mean.</a:t>
            </a:r>
            <a:endParaRPr lang="en-US" sz="1050" dirty="0"/>
          </a:p>
        </p:txBody>
      </p:sp>
      <p:sp>
        <p:nvSpPr>
          <p:cNvPr id="14" name="card"/>
          <p:cNvSpPr/>
          <p:nvPr/>
        </p:nvSpPr>
        <p:spPr>
          <a:xfrm>
            <a:off x="4983480" y="2651760"/>
            <a:ext cx="3703320" cy="10515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accent"/>
          <p:cNvSpPr/>
          <p:nvPr/>
        </p:nvSpPr>
        <p:spPr>
          <a:xfrm>
            <a:off x="4983480" y="2651760"/>
            <a:ext cx="64008" cy="10515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5212080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CUSUM change-point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212080" y="30632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Detects when weekly animal distress shifts. Run on human fever too, to measure how early animals warned.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83480" y="3931920"/>
            <a:ext cx="1170432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4983480" y="393192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CRITICAL  ≥70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45352" y="3931920"/>
            <a:ext cx="1170432" cy="310896"/>
          </a:xfrm>
          <a:prstGeom prst="roundRect">
            <a:avLst>
              <a:gd name="adj" fmla="val 235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6245352" y="393192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WATCH  40–69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07224" y="3931920"/>
            <a:ext cx="1170432" cy="310896"/>
          </a:xfrm>
          <a:prstGeom prst="roundRect">
            <a:avLst>
              <a:gd name="adj" fmla="val 235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7507224" y="393192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NORMAL  &lt;40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983480" y="431596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Weights are heuristic; vets can retune them live in the dashboard.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EXPLAINABILITY</a:t>
            </a:r>
            <a:endParaRPr lang="en-US" sz="9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Every alert says why it is red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Example: Barmer, Rajasthan (simulated data). Two views, so officers can cross-check.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57200" y="1463040"/>
            <a:ext cx="2194560" cy="31089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accent"/>
          <p:cNvSpPr/>
          <p:nvPr/>
        </p:nvSpPr>
        <p:spPr>
          <a:xfrm>
            <a:off x="457200" y="1463040"/>
            <a:ext cx="64008" cy="3108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40080" y="1627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BARMER, RAJASTHAN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chemeClr val="accent2"/>
                </a:solidFill>
              </a:rPr>
              <a:t>88.6</a:t>
            </a:r>
            <a:endParaRPr lang="en-US" sz="5200" dirty="0"/>
          </a:p>
        </p:txBody>
      </p:sp>
      <p:sp>
        <p:nvSpPr>
          <p:cNvPr id="10" name="Shape 7"/>
          <p:cNvSpPr/>
          <p:nvPr/>
        </p:nvSpPr>
        <p:spPr>
          <a:xfrm>
            <a:off x="640080" y="2788920"/>
            <a:ext cx="1005840" cy="27432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4008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CRITICAL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246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Isolation Forest: 100/100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CUSUM change-point: Wk 4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Human fever: 14 cases/wk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</a:rPr>
              <a:t>Data completeness: 100%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88036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A. Score composition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880360" y="1828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Livestock deaths, abortions &amp; PPR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074920" y="1828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56%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80360" y="2066544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2880360" y="2066544"/>
            <a:ext cx="1536192" cy="10972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2880360" y="23957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Thermal shock &amp; rainfall deficit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2395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24%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880360" y="2633472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880360" y="2633472"/>
            <a:ext cx="658368" cy="10972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2880360" y="29626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Vaccination coverage deficit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074920" y="29626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19%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880360" y="3200400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2880360" y="3200400"/>
            <a:ext cx="521208" cy="10972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580644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B. Isolation Forest attribution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806440" y="1828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Livestock deaths, abortions &amp; PPR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1828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56%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06440" y="2066544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5806440" y="2066544"/>
            <a:ext cx="1536192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 txBox="1"/>
          <p:nvPr/>
        </p:nvSpPr>
        <p:spPr>
          <a:xfrm>
            <a:off x="5806440" y="23957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Thermal shock &amp; rainfall deficit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8001000" y="2395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33%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06440" y="2633472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5806440" y="2633472"/>
            <a:ext cx="905256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 txBox="1"/>
          <p:nvPr/>
        </p:nvSpPr>
        <p:spPr>
          <a:xfrm>
            <a:off x="5806440" y="29626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Vaccination coverage deficit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29626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/>
                </a:solidFill>
              </a:rPr>
              <a:t>11%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06440" y="3200400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5806440" y="3200400"/>
            <a:ext cx="301752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card"/>
          <p:cNvSpPr/>
          <p:nvPr/>
        </p:nvSpPr>
        <p:spPr>
          <a:xfrm>
            <a:off x="2880360" y="3611880"/>
            <a:ext cx="5806440" cy="960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accent"/>
          <p:cNvSpPr/>
          <p:nvPr/>
        </p:nvSpPr>
        <p:spPr>
          <a:xfrm>
            <a:off x="2880360" y="3611880"/>
            <a:ext cx="64008" cy="9601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 txBox="1"/>
          <p:nvPr/>
        </p:nvSpPr>
        <p:spPr>
          <a:xfrm>
            <a:off x="3108960" y="373075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Targeted field action  </a:t>
            </a:r>
            <a:r>
              <a:rPr lang="en-US" sz="1050" dirty="0">
                <a:solidFill>
                  <a:srgbClr val="64748B"/>
                </a:solidFill>
              </a:rPr>
              <a:t>Dispatch the veterinary rapid response team within 48 h, verify reports, sample herds, restrict movement along exposed corridors, alert the District Health Officer.</a:t>
            </a:r>
            <a:endParaRPr lang="en-US" sz="105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COMMAND DASHBOARD</a:t>
            </a:r>
            <a:endParaRPr lang="en-US" sz="9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One screen from signal to decision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Real screenshot of the working dashboard (simulated data).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352294" cy="3246120"/>
          </a:xfrm>
          <a:prstGeom prst="rect">
            <a:avLst/>
          </a:prstGeom>
          <a:solidFill>
            <a:schemeClr val="tx1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/tmp/deck/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2260854" cy="3154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0" y="156362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3401568" y="1508760"/>
            <a:ext cx="52852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Score, trend and what-if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Two-week projection, and a ring-vaccination slider showing the score drop.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0" y="21671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 txBox="1"/>
          <p:nvPr/>
        </p:nvSpPr>
        <p:spPr>
          <a:xfrm>
            <a:off x="3401568" y="2112264"/>
            <a:ext cx="52852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Two explanation views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Score composition and Isolation Forest attribution side by side.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2770632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 txBox="1"/>
          <p:nvPr/>
        </p:nvSpPr>
        <p:spPr>
          <a:xfrm>
            <a:off x="3401568" y="2715768"/>
            <a:ext cx="52852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Expert calibration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Sliders and presets (vector-borne, vaccine-preventable) re-weight the score live.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0" y="3374136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3401568" y="3319272"/>
            <a:ext cx="52852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Field-ready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English, Hindi and Marathi; copy-ready alert message for the District Veterinary Officer.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0" y="397764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3401568" y="3922776"/>
            <a:ext cx="52852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Exports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Situation report (.txt) and scores (.csv) in one click.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RESPONSE WORKFLOW</a:t>
            </a:r>
            <a:endParaRPr lang="en-US" sz="9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Alerts that run against a 48-hour clock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Target: veterinary team dispatched within 48 hours of a CRITICAL flag.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4663440" cy="2437598"/>
          </a:xfrm>
          <a:prstGeom prst="rect">
            <a:avLst/>
          </a:prstGeom>
          <a:solidFill>
            <a:schemeClr val="tx1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/tmp/deck/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572000" cy="234615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394960" y="151790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5596128" y="146304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Alert Center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Bell, red banner, pop-up with SLA countdown.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394960" y="224942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 txBox="1"/>
          <p:nvPr/>
        </p:nvSpPr>
        <p:spPr>
          <a:xfrm>
            <a:off x="5596128" y="219456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Field-report intake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vet submits counts; the model re-scores and the map updates.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394960" y="298094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 txBox="1"/>
          <p:nvPr/>
        </p:nvSpPr>
        <p:spPr>
          <a:xfrm>
            <a:off x="5596128" y="292608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Webhook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Push new alerts to Slack, WhatsApp or SMS gateways.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4069080"/>
            <a:ext cx="1499616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457200" y="40690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Flagged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956816" y="4069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2139696" y="4069080"/>
            <a:ext cx="1499616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 txBox="1"/>
          <p:nvPr/>
        </p:nvSpPr>
        <p:spPr>
          <a:xfrm>
            <a:off x="2139696" y="40690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Verified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3639312" y="4069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3822192" y="4069080"/>
            <a:ext cx="1499616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 txBox="1"/>
          <p:nvPr/>
        </p:nvSpPr>
        <p:spPr>
          <a:xfrm>
            <a:off x="3822192" y="40690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Team dispatched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321808" y="4069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504688" y="4069080"/>
            <a:ext cx="1499616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 txBox="1"/>
          <p:nvPr/>
        </p:nvSpPr>
        <p:spPr>
          <a:xfrm>
            <a:off x="5504688" y="40690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Samples sent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7004304" y="4069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7187184" y="4069080"/>
            <a:ext cx="1499616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 txBox="1"/>
          <p:nvPr/>
        </p:nvSpPr>
        <p:spPr>
          <a:xfrm>
            <a:off x="7187184" y="40690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Closed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45902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48 h SLA clock runs from alert open to team dispatched (first two steps)</a:t>
            </a:r>
            <a:endParaRPr lang="en-US" sz="9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D.01  SPATIAL INTELLIGENCE</a:t>
            </a:r>
            <a:endParaRPr lang="en-US" sz="9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Risk map, corridors and downstream exposure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Where risk is, and where it may travel next.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883772" cy="3108960"/>
          </a:xfrm>
          <a:prstGeom prst="rect">
            <a:avLst/>
          </a:prstGeom>
          <a:solidFill>
            <a:schemeClr val="tx1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/tmp/deck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2792332" cy="3017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5720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Illustrative outline with district scores from the demo data. Live dashboard uses a real Leaflet basemap.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389120" y="151790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4590288" y="1463040"/>
            <a:ext cx="4096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Risk markers and heatmap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Score on every district; critical ones pulse.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89120" y="2139696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4590288" y="2084832"/>
            <a:ext cx="4096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Livestock corridors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Line width = movement volume, colour = risk.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89120" y="276148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4590288" y="2706624"/>
            <a:ext cx="4096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Corridor exposure index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Origin risk x volume x unvaccinated share; flags where to pre-position teams.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89120" y="338328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4590288" y="3328416"/>
            <a:ext cx="4096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5 km buffers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configurable search radius, not a validated containment perimeter.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89120" y="4005072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 txBox="1"/>
          <p:nvPr/>
        </p:nvSpPr>
        <p:spPr>
          <a:xfrm>
            <a:off x="4590288" y="3950208"/>
            <a:ext cx="4096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Replay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Week-by-week playback and documented case replay.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TRUST, EVIDENCE &amp; ROADMAP</a:t>
            </a:r>
            <a:endParaRPr lang="en-US" sz="9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Built to be checked, with its limits stated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Judges and officers should be able to see what is real and what is simulated.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57200" y="1463040"/>
            <a:ext cx="2651760" cy="27432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accent"/>
          <p:cNvSpPr/>
          <p:nvPr/>
        </p:nvSpPr>
        <p:spPr>
          <a:xfrm>
            <a:off x="457200" y="1463040"/>
            <a:ext cx="64008" cy="2743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8580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trust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Completeness per district; missing report is not zero disease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Header chips: Live / CSV / Scenario / Simulated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Field reports fill gaps and re-score instantly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3291840" y="1463040"/>
            <a:ext cx="2651760" cy="27432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accent"/>
          <p:cNvSpPr/>
          <p:nvPr/>
        </p:nvSpPr>
        <p:spPr>
          <a:xfrm>
            <a:off x="3291840" y="1463040"/>
            <a:ext cx="64008" cy="2743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352044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Evidence we can show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Case replay: lead time against official confirmation week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Animal vs human change-point lead: median 3.0 wk (synthetic, n=4)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Lag correlation across 0-4 weeks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6126480" y="1463040"/>
            <a:ext cx="2651760" cy="27432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accent"/>
          <p:cNvSpPr/>
          <p:nvPr/>
        </p:nvSpPr>
        <p:spPr>
          <a:xfrm>
            <a:off x="6126480" y="1463040"/>
            <a:ext cx="64008" cy="2743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635508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Limits and next steps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Demo data is synthetic; validate on documented anthrax / HPAI outbreaks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Weights are heuristic; needs veterinary calibration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Next: NADRES/IDSP connectors, NDVI, district polygons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THE TEAM</a:t>
            </a:r>
            <a:endParaRPr lang="en-US" sz="9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VetTech Trio: clinic meets code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The interdisciplinary mix One Health needs.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57200" y="1463040"/>
            <a:ext cx="2651760" cy="2514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accent"/>
          <p:cNvSpPr/>
          <p:nvPr/>
        </p:nvSpPr>
        <p:spPr>
          <a:xfrm>
            <a:off x="457200" y="1463040"/>
            <a:ext cx="64008" cy="2514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85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Parth Kantharia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chemeClr val="accent1"/>
                </a:solidFill>
              </a:rPr>
              <a:t>TEAM LEAD &amp; VETERINARY LEAD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4th Year B.V.Sc. &amp; A.H., Mumbai Veterinary College (MAFSU)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Syndromic classification, triage rules, One Health validation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3291840" y="1463040"/>
            <a:ext cx="2651760" cy="2514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accent"/>
          <p:cNvSpPr/>
          <p:nvPr/>
        </p:nvSpPr>
        <p:spPr>
          <a:xfrm>
            <a:off x="3291840" y="1463040"/>
            <a:ext cx="64008" cy="25146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3520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Priyal Kantharia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chemeClr val="accent5"/>
                </a:solidFill>
              </a:rPr>
              <a:t>ML ENGINEER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Computer Engineering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Pipeline, server, GIS dashboard, alert workflow</a:t>
            </a:r>
            <a:endParaRPr lang="en-US" sz="1050" dirty="0"/>
          </a:p>
        </p:txBody>
      </p:sp>
      <p:sp>
        <p:nvSpPr>
          <p:cNvPr id="18" name="card"/>
          <p:cNvSpPr/>
          <p:nvPr/>
        </p:nvSpPr>
        <p:spPr>
          <a:xfrm>
            <a:off x="6126480" y="1463040"/>
            <a:ext cx="2651760" cy="2514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accent"/>
          <p:cNvSpPr/>
          <p:nvPr/>
        </p:nvSpPr>
        <p:spPr>
          <a:xfrm>
            <a:off x="6126480" y="1463040"/>
            <a:ext cx="64008" cy="25146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63550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Rahul Bhojkar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chemeClr val="accent6"/>
                </a:solidFill>
              </a:rPr>
              <a:t>DATA &amp; ML ENGINEER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Electronics &amp; Telecommunication Engineering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Isolation Forest, change-point detection, attribution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github.com/priyalk16/spillover-radar</a:t>
            </a:r>
            <a:r>
              <a:rPr lang="en-US" sz="1050" dirty="0">
                <a:solidFill>
                  <a:srgbClr val="64748B"/>
                </a:solidFill>
              </a:rPr>
              <a:t>   ·   Prototype for decision support; confirm alerts via lab and field investigation.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illover Radar">
  <a:themeElements>
    <a:clrScheme name="Spillover Radar">
      <a:dk1>
        <a:srgbClr val="0B1220"/>
      </a:dk1>
      <a:lt1>
        <a:srgbClr val="FFFFFF"/>
      </a:lt1>
      <a:dk2>
        <a:srgbClr val="1E293B"/>
      </a:dk2>
      <a:lt2>
        <a:srgbClr val="F4F7FA"/>
      </a:lt2>
      <a:accent1>
        <a:srgbClr val="14B8A6"/>
      </a:accent1>
      <a:accent2>
        <a:srgbClr val="EF4444"/>
      </a:accent2>
      <a:accent3>
        <a:srgbClr val="F59E0B"/>
      </a:accent3>
      <a:accent4>
        <a:srgbClr val="10B981"/>
      </a:accent4>
      <a:accent5>
        <a:srgbClr val="38BDF8"/>
      </a:accent5>
      <a:accent6>
        <a:srgbClr val="8B5CF6"/>
      </a:accent6>
      <a:hlink>
        <a:srgbClr val="14B8A6"/>
      </a:hlink>
      <a:folHlink>
        <a:srgbClr val="8B5CF6"/>
      </a:folHlink>
    </a:clrScheme>
    <a:fontScheme name="Spillover Rada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1525</Words>
  <Application>Microsoft Office PowerPoint</Application>
  <PresentationFormat>On-screen Show (16:9)</PresentationFormat>
  <Paragraphs>231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Spillover Radar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Spillover Radar - VetTech Trio</dc:title>
  <dc:subject>PptxGenJS Presentation</dc:subject>
  <dc:creator>VetTech Trio</dc:creator>
  <cp:lastModifiedBy>priyalkantharia-cmpn@atharvacoe.ac.in</cp:lastModifiedBy>
  <cp:revision>2</cp:revision>
  <dcterms:created xsi:type="dcterms:W3CDTF">2026-10-17T12:52:43Z</dcterms:created>
  <dcterms:modified xsi:type="dcterms:W3CDTF">2026-10-17T14:04:46Z</dcterms:modified>
</cp:coreProperties>
</file>