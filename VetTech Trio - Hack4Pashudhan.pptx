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705475"/>
            <a:ext cx="10668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96450" y="533400"/>
            <a:ext cx="1733550" cy="333375"/>
          </a:xfrm>
          <a:prstGeom prst="roundRect">
            <a:avLst>
              <a:gd name="adj" fmla="val 1714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7054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5312"/>
            <a:ext cx="26670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09280" y="590550"/>
            <a:ext cx="31826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Plus Jakarta Sans"/>
              </a:rPr>
              <a:t>TEAM ID: H4P-VC587GBK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58925"/>
            <a:ext cx="315292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DD4BF"/>
                </a:solidFill>
                <a:latin typeface="Space Grotesk"/>
              </a:rPr>
              <a:t>ONE HEALTH GEOSPATIAL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25625"/>
            <a:ext cx="99012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Spillover Radar: Predictive Zoonotic Outbreak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17156"/>
            <a:ext cx="7905750" cy="524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sz="1425" b="0" i="0" u="none">
                <a:solidFill>
                  <a:srgbClr val="94A3B8"/>
                </a:solidFill>
                <a:latin typeface="Plus Jakarta Sans"/>
              </a:rPr>
              <a:t>A unified One Health platform synchronizing livestock disease signals, environmental telemetry, and explainable AI for proactive pandemic prevention.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9125"/>
            <a:ext cx="349392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4B8A6"/>
                </a:solidFill>
                <a:latin typeface="Space Grotesk"/>
              </a:rPr>
              <a:t>HACK4PASHUDHAN • VERDANT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907" y="5939827"/>
            <a:ext cx="12400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INNOVATING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05525"/>
            <a:ext cx="1818062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 err="1">
                <a:solidFill>
                  <a:srgbClr val="14B8A6"/>
                </a:solidFill>
                <a:latin typeface="Space Grotesk"/>
              </a:rPr>
              <a:t>VetTech</a:t>
            </a:r>
            <a:r>
              <a:rPr sz="2800" b="1" i="0" u="none" dirty="0">
                <a:solidFill>
                  <a:srgbClr val="14B8A6"/>
                </a:solidFill>
                <a:latin typeface="Space Grotesk"/>
              </a:rPr>
              <a:t> Trio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713" y="5614055"/>
            <a:ext cx="455355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E2E8F0"/>
                </a:solidFill>
                <a:latin typeface="Plus Jakarta Sans"/>
              </a:rPr>
              <a:t>Parth Kantharia </a:t>
            </a:r>
            <a:r>
              <a:rPr sz="2400" b="1" i="0" u="none" dirty="0">
                <a:solidFill>
                  <a:srgbClr val="94A3B8"/>
                </a:solidFill>
                <a:latin typeface="Plus Jakarta Sans"/>
              </a:rPr>
              <a:t>(4th Yr </a:t>
            </a:r>
            <a:r>
              <a:rPr sz="2400" b="1" i="0" u="none" dirty="0" err="1">
                <a:solidFill>
                  <a:srgbClr val="94A3B8"/>
                </a:solidFill>
                <a:latin typeface="Plus Jakarta Sans"/>
              </a:rPr>
              <a:t>B.V.Sc</a:t>
            </a:r>
            <a:r>
              <a:rPr sz="2400" b="1" i="0" u="none" dirty="0">
                <a:solidFill>
                  <a:srgbClr val="94A3B8"/>
                </a:solidFill>
                <a:latin typeface="Plus Jakarta Sans"/>
              </a:rPr>
              <a:t>, MVC</a:t>
            </a:r>
            <a:r>
              <a:rPr sz="1600" b="1" i="0" u="none" dirty="0">
                <a:solidFill>
                  <a:srgbClr val="94A3B8"/>
                </a:solidFill>
                <a:latin typeface="Plus Jakarta San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5" y="6124494"/>
            <a:ext cx="291453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E2E8F0"/>
                </a:solidFill>
                <a:latin typeface="Plus Jakarta Sans"/>
              </a:rPr>
              <a:t>Priyal Kantharia </a:t>
            </a:r>
            <a:r>
              <a:rPr sz="2000" b="1" i="0" u="none" dirty="0">
                <a:solidFill>
                  <a:srgbClr val="94A3B8"/>
                </a:solidFill>
                <a:latin typeface="Plus Jakarta Sans"/>
              </a:rPr>
              <a:t>(Engineer</a:t>
            </a:r>
            <a:r>
              <a:rPr sz="900" b="1" i="0" u="none" dirty="0">
                <a:solidFill>
                  <a:srgbClr val="94A3B8"/>
                </a:solidFill>
                <a:latin typeface="Plus Jakarta San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0727" y="6074807"/>
            <a:ext cx="264501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E2E8F0"/>
                </a:solidFill>
                <a:latin typeface="Plus Jakarta Sans"/>
              </a:rPr>
              <a:t>Rahul </a:t>
            </a:r>
            <a:r>
              <a:rPr sz="2000" b="1" i="0" u="none" dirty="0" err="1">
                <a:solidFill>
                  <a:srgbClr val="E2E8F0"/>
                </a:solidFill>
                <a:latin typeface="Plus Jakarta Sans"/>
              </a:rPr>
              <a:t>Bhojkar</a:t>
            </a:r>
            <a:r>
              <a:rPr sz="2000" b="1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sz="2000" b="1" i="0" u="none" dirty="0">
                <a:solidFill>
                  <a:srgbClr val="94A3B8"/>
                </a:solidFill>
                <a:latin typeface="Plus Jakarta Sans"/>
              </a:rPr>
              <a:t>(Engineer)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75533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3075533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75533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75533"/>
            <a:ext cx="38100" cy="18097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075533"/>
            <a:ext cx="38100" cy="1809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075533"/>
            <a:ext cx="38100" cy="18097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42233"/>
            <a:ext cx="29337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342233"/>
            <a:ext cx="29337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342233"/>
            <a:ext cx="29337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25" y="419100"/>
            <a:ext cx="2643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D9488"/>
                </a:solidFill>
                <a:latin typeface="Space Grotesk"/>
              </a:rPr>
              <a:t>THE EPIDEMIOLOGICAL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672277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What Problem Are We Solving?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1093440"/>
            <a:ext cx="813075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64748B"/>
                </a:solidFill>
                <a:latin typeface="Plus Jakarta Sans"/>
              </a:rPr>
              <a:t>Protecting India's 535M+ livestock and rural populations from fragmented surveillance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85133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Fatal Data 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80408"/>
            <a:ext cx="302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Livestock cases stay inside NADRES; human fevers stay in IDSP; rainfall in IMD.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7608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F4444"/>
                </a:solidFill>
                <a:latin typeface="Plus Jakarta Sans"/>
              </a:rPr>
              <a:t>Zero real-time data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685133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14-Day Response 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980408"/>
            <a:ext cx="302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Outbreaks detected only after hospital admissions surge, delaying containment.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4437608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Retrospective, not proactive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685133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Unexplained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980408"/>
            <a:ext cx="302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Field veterinary officers receive static PDF reports without causal explanation.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4437608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366F1"/>
                </a:solidFill>
                <a:latin typeface="Plus Jakarta Sans"/>
              </a:rPr>
              <a:t>Zero actionable trace-back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2195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1F5F9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042195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956470"/>
            <a:ext cx="3505200" cy="2047875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43400" y="295647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956470"/>
            <a:ext cx="3505200" cy="2047875"/>
          </a:xfrm>
          <a:prstGeom prst="roundRect">
            <a:avLst>
              <a:gd name="adj" fmla="val 5581"/>
            </a:avLst>
          </a:prstGeom>
          <a:solidFill>
            <a:srgbClr val="F1F5F9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56470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57575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CHALLENGE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817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Comprehensive Deliverable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093440"/>
            <a:ext cx="64926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Engineered specifically to solve all three Hack4Pashudhan technical mandates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327945"/>
            <a:ext cx="3028950" cy="130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DELIVERABLE D.01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3242220"/>
            <a:ext cx="3028950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DELIVERABLE D.02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3242220"/>
            <a:ext cx="3028950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Plus Jakarta Sans"/>
              </a:rPr>
              <a:t>DELIVERABLE D.03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642270"/>
            <a:ext cx="38504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Geospatial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975645"/>
            <a:ext cx="302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District choropleth heatmaps tracking livestock transit corridors and 5km containment buffers.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451895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D9488"/>
                </a:solidFill>
                <a:latin typeface="Plus Jakarta Sans"/>
              </a:rPr>
              <a:t>Dynamic Corridor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150" y="3556545"/>
            <a:ext cx="38504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Multi-Sector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3889920"/>
            <a:ext cx="3028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Harmonized time-series ingestion spanning animal health, climate, and syndromic telemetry.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50" y="4537620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Automated Data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2950" y="3556545"/>
            <a:ext cx="38290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2950" y="3889920"/>
            <a:ext cx="3028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Unsupervised Isolation Forest coupled with TreeSHAP producing verifiable 0–100 district risk scores.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2950" y="4537620"/>
            <a:ext cx="366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C3AED"/>
                </a:solidFill>
                <a:latin typeface="Plus Jakarta Sans"/>
              </a:rPr>
              <a:t>Explainable AI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71750" y="2837408"/>
            <a:ext cx="2901999" cy="4572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26149" y="2837408"/>
            <a:ext cx="2901999" cy="4572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0549" y="2837408"/>
            <a:ext cx="2901999" cy="4572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71750" y="3751808"/>
            <a:ext cx="9010650" cy="4572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71750" y="4666208"/>
            <a:ext cx="9010650" cy="4572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447008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4361408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5" y="3008858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124" y="3008858"/>
            <a:ext cx="1714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524" y="3008858"/>
            <a:ext cx="11430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6367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D.02 INGESTION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Harmonized Multi-Sector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93440"/>
            <a:ext cx="625427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Synchronizing disparate data cadences into a normalized geospatial stream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985045"/>
            <a:ext cx="2262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pace Grotesk"/>
              </a:rPr>
              <a:t>DATA FEEDS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0758"/>
            <a:ext cx="265434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NADRES Cattle Data • 20th Census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599" y="2970758"/>
            <a:ext cx="265434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IMD Weather • ISRO Bhuvan NDVI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999" y="2970758"/>
            <a:ext cx="265434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IDSP / IHIP Syndromic Weekly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899445"/>
            <a:ext cx="2262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Space Grotesk"/>
              </a:rPr>
              <a:t>PROCESSING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813845"/>
            <a:ext cx="2262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pace Grotesk"/>
              </a:rPr>
              <a:t>DELIVERY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1775" y="3894683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Geocoding Snapping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3894683"/>
            <a:ext cx="371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700" y="3894683"/>
            <a:ext cx="185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7–21 Day Lag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950" y="3894683"/>
            <a:ext cx="371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0025" y="3894683"/>
            <a:ext cx="1809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Min-Max Normalization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2175" y="3894683"/>
            <a:ext cx="371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0" y="3894683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Mobility Buffers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1775" y="4809083"/>
            <a:ext cx="1797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PostgreSQL + PostGIS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6843" y="4809083"/>
            <a:ext cx="371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362" y="4809083"/>
            <a:ext cx="1774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Python FastAPI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5381" y="4809083"/>
            <a:ext cx="371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7900" y="4809083"/>
            <a:ext cx="189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District GeoJSON Feeds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3744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3744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3744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79933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D9488"/>
                </a:solidFill>
                <a:latin typeface="Space Grotesk"/>
              </a:rPr>
              <a:t>D.</a:t>
            </a:r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03 PREDICTIVE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Isolation Forest + SHAP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93440"/>
            <a:ext cx="64829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Detecting multi-variate anomalies before outbreaks reach hospital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1367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Space Grotesk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4227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Lag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56595"/>
            <a:ext cx="3048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Aligns veterinary syndromic signals with rainfall and heat shifts over 7–21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37569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Accounts for incubation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41367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Space Grotesk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64227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956595"/>
            <a:ext cx="3048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Unsupervised outlier detection isolates unexpected shifts in cross-species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37569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Zero dependency on prior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41367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Space Grotesk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4227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SHAP 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56595"/>
            <a:ext cx="3048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Deconstructs the 0–100 risk score into top 3 causal environmental drivers.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37569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Actionable field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7895"/>
            <a:ext cx="4840337" cy="2105025"/>
          </a:xfrm>
          <a:prstGeom prst="roundRect">
            <a:avLst>
              <a:gd name="adj" fmla="val 723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92837" y="2608808"/>
            <a:ext cx="5789562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92837" y="3294608"/>
            <a:ext cx="5789562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92837" y="3980408"/>
            <a:ext cx="5789562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92837" y="4666208"/>
            <a:ext cx="5789562" cy="685800"/>
          </a:xfrm>
          <a:prstGeom prst="roundRect">
            <a:avLst>
              <a:gd name="adj" fmla="val 13888"/>
            </a:avLst>
          </a:prstGeom>
          <a:solidFill>
            <a:srgbClr val="ECFDF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20300" y="2761208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29825" y="3447008"/>
            <a:ext cx="136207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0" y="4132808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4525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EXPLAINABILITY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Transparent Risk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93440"/>
            <a:ext cx="650960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Veterinary and health officers receive verifiable causal drivers with every alert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89" y="3280320"/>
            <a:ext cx="516935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Plus Jakarta Sans"/>
              </a:rPr>
              <a:t>DISTRICT BARMER, RAJASTHAN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89" y="3527970"/>
            <a:ext cx="5169358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600" b="1" i="0" u="none">
                <a:solidFill>
                  <a:srgbClr val="B91C1C"/>
                </a:solidFill>
                <a:latin typeface="Plus Jakarta Sans"/>
              </a:rPr>
              <a:t>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89" y="4499520"/>
            <a:ext cx="516935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991B1B"/>
                </a:solidFill>
                <a:latin typeface="Plus Jakarta Sans"/>
              </a:rPr>
              <a:t>Spillover Risk Score (Critical Alert)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3337" y="2785020"/>
            <a:ext cx="3631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Bovine abortion clusters (4 cases / 5km)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5550" y="2799308"/>
            <a:ext cx="1276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Plus Jakarta Sans"/>
              </a:rPr>
              <a:t>+42% SHAP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337" y="3470820"/>
            <a:ext cx="4024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Micro-climate temp spike (+2.4°C 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5075" y="3485108"/>
            <a:ext cx="126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+28% SHAP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3337" y="4156620"/>
            <a:ext cx="3714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Cattle vaccination gap (&lt;38% coverage)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3650" y="4170908"/>
            <a:ext cx="1238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+18% SHAP 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2862" y="4828133"/>
            <a:ext cx="61991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Targeted Field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2862" y="5037683"/>
            <a:ext cx="61991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47857"/>
                </a:solidFill>
                <a:latin typeface="Plus Jakarta Sans"/>
              </a:rPr>
              <a:t>Dispatch veterinary rapid response team for Brucellosis screening &amp; ring vaccination.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4350" y="1038225"/>
            <a:ext cx="11163300" cy="5476875"/>
          </a:xfrm>
          <a:prstGeom prst="roundRect">
            <a:avLst>
              <a:gd name="adj" fmla="val 1739"/>
            </a:avLst>
          </a:prstGeom>
          <a:solidFill>
            <a:srgbClr val="070B14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977806" y="1047750"/>
            <a:ext cx="4690318" cy="5457825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820150" y="514350"/>
            <a:ext cx="1104900" cy="219075"/>
          </a:xfrm>
          <a:prstGeom prst="roundRect">
            <a:avLst>
              <a:gd name="adj" fmla="val 2608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275" y="2481262"/>
            <a:ext cx="6139606" cy="2476500"/>
          </a:xfrm>
          <a:prstGeom prst="roundRect">
            <a:avLst>
              <a:gd name="adj" fmla="val 307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275" y="6076950"/>
            <a:ext cx="6139606" cy="276225"/>
          </a:xfrm>
          <a:prstGeom prst="roundRect">
            <a:avLst>
              <a:gd name="adj" fmla="val 206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799" y="2490787"/>
            <a:ext cx="6292007" cy="2586038"/>
          </a:xfrm>
          <a:prstGeom prst="rect">
            <a:avLst/>
          </a:prstGeom>
          <a:solidFill>
            <a:srgbClr val="47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743075" y="6196012"/>
            <a:ext cx="4072681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0206" y="1457325"/>
            <a:ext cx="4385518" cy="876300"/>
          </a:xfrm>
          <a:prstGeom prst="roundRect">
            <a:avLst>
              <a:gd name="adj" fmla="val 65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0206" y="2428875"/>
            <a:ext cx="4358432" cy="762000"/>
          </a:xfrm>
          <a:prstGeom prst="roundRect">
            <a:avLst>
              <a:gd name="adj" fmla="val 11538"/>
            </a:avLst>
          </a:prstGeom>
          <a:solidFill>
            <a:srgbClr val="134E4A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0206" y="6057900"/>
            <a:ext cx="2154733" cy="295275"/>
          </a:xfrm>
          <a:prstGeom prst="roundRect">
            <a:avLst>
              <a:gd name="adj" fmla="val 19354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61140" y="6057900"/>
            <a:ext cx="2154733" cy="295275"/>
          </a:xfrm>
          <a:prstGeom prst="roundRect">
            <a:avLst>
              <a:gd name="adj" fmla="val 1935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6081" y="1200150"/>
            <a:ext cx="647700" cy="161925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29981" y="1200150"/>
            <a:ext cx="762000" cy="161925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68181" y="1200150"/>
            <a:ext cx="647700" cy="161925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743075" y="6196012"/>
            <a:ext cx="3054399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15625" y="1200150"/>
            <a:ext cx="800100" cy="161925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58581" y="2852737"/>
            <a:ext cx="1057275" cy="161925"/>
          </a:xfrm>
          <a:prstGeom prst="roundRect">
            <a:avLst>
              <a:gd name="adj" fmla="val 23529"/>
            </a:avLst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6157912"/>
            <a:ext cx="85725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310" y="6153150"/>
            <a:ext cx="1143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107" y="615315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741" y="3357562"/>
            <a:ext cx="762000" cy="762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341" y="3643312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6441" y="3429000"/>
            <a:ext cx="619125" cy="619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4166" y="3643312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3266" y="3357562"/>
            <a:ext cx="762000" cy="762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2881312"/>
            <a:ext cx="114300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4866" y="3624262"/>
            <a:ext cx="28575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6466" y="3652837"/>
            <a:ext cx="2190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0916" y="3633787"/>
            <a:ext cx="266700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4350" y="390525"/>
            <a:ext cx="16827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4B8A6"/>
                </a:solidFill>
                <a:latin typeface="Space Grotesk"/>
              </a:rPr>
              <a:t>PLATFORM</a:t>
            </a:r>
            <a:r>
              <a:rPr sz="900" b="1" i="0" u="none" dirty="0">
                <a:solidFill>
                  <a:srgbClr val="14B8A6"/>
                </a:solidFill>
                <a:latin typeface="Space Grotesk"/>
              </a:rPr>
              <a:t> COMMAND CENTER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350" y="581025"/>
            <a:ext cx="345248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FFFFF"/>
                </a:solidFill>
                <a:latin typeface="Space Grotesk"/>
              </a:rPr>
              <a:t>The Spillover Radar </a:t>
            </a:r>
            <a:r>
              <a:rPr sz="2400" b="1" i="0" u="none" dirty="0">
                <a:solidFill>
                  <a:srgbClr val="FFFFFF"/>
                </a:solidFill>
                <a:latin typeface="Space Grotesk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552450"/>
            <a:ext cx="1009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CFBF1"/>
                </a:solidFill>
                <a:latin typeface="Plus Jakarta Sans"/>
              </a:rPr>
              <a:t>LIVE 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0300" y="552450"/>
            <a:ext cx="2071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Week 42 • Pan-India Coverage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1209675"/>
            <a:ext cx="320645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94A3B8"/>
                </a:solidFill>
                <a:latin typeface="Plus Jakarta Sans"/>
              </a:rPr>
              <a:t>GIS HEATMAP &amp; TRANSIT CORRIDORS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" y="6153150"/>
            <a:ext cx="9048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Time-Slider: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30056" y="6153150"/>
            <a:ext cx="10382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2E8F0"/>
                </a:solidFill>
                <a:latin typeface="Plus Jakarta Sans"/>
              </a:rPr>
              <a:t>W-3 to Current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7064" y="6134100"/>
            <a:ext cx="254101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Trace-Back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7998" y="6134100"/>
            <a:ext cx="254101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Plus Jakarta Sans"/>
              </a:rPr>
              <a:t>Export PDF Brief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2281" y="1219200"/>
            <a:ext cx="590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FFFFF"/>
                </a:solidFill>
                <a:latin typeface="Plus Jakarta Sans"/>
              </a:rPr>
              <a:t>High (&gt;75)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6181" y="1219200"/>
            <a:ext cx="7048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8FAFC"/>
                </a:solidFill>
                <a:latin typeface="Plus Jakarta Sans"/>
              </a:rPr>
              <a:t>Mod (50–74)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4381" y="1219200"/>
            <a:ext cx="590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F8FAFC"/>
                </a:solidFill>
                <a:latin typeface="Plus Jakarta Sans"/>
              </a:rPr>
              <a:t>Low (&lt;50)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855" y="4462462"/>
            <a:ext cx="717444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 dirty="0">
                <a:solidFill>
                  <a:srgbClr val="94A3B8"/>
                </a:solidFill>
                <a:latin typeface="Plus Jakarta Sans"/>
              </a:rPr>
              <a:t>Real-time Cattle Mandi Transit Overlay • 4 Migratory Corridors Monitored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0206" y="1209675"/>
            <a:ext cx="1797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Plus Jakarta Sans"/>
              </a:rPr>
              <a:t>District Detail: Barmer (RJ)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1825" y="1219200"/>
            <a:ext cx="7429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Plus Jakarta Sans"/>
              </a:rPr>
              <a:t>Risk: 87/100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5456" y="1552575"/>
            <a:ext cx="496654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TOP SHAP CAUSAL FACTORS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1043" y="2552700"/>
            <a:ext cx="495701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5EEAD4"/>
                </a:solidFill>
                <a:latin typeface="Plus Jakarta Sans"/>
              </a:rPr>
              <a:t>Automated Directive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4981" y="2695575"/>
            <a:ext cx="495701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CCFBF1"/>
                </a:solidFill>
                <a:latin typeface="Plus Jakarta Sans"/>
              </a:rPr>
              <a:t>Dispatch veterinary rapid response team; initiate ring vaccination.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300" y="2862262"/>
            <a:ext cx="2202656" cy="1428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8FAFC"/>
                </a:solidFill>
                <a:latin typeface="Plus Jakarta Sans"/>
              </a:rPr>
              <a:t>Barmer Corridor (Cluster Alert)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4781" y="2871787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4B8A6"/>
                </a:solidFill>
                <a:latin typeface="Plus Jakarta Sans"/>
              </a:rPr>
              <a:t>5km Buffer Active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5456" y="1733550"/>
            <a:ext cx="1964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Plus Jakarta Sans"/>
              </a:rPr>
              <a:t>• Bovine Abortions (&gt;4 / 5km)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3775" y="1733550"/>
            <a:ext cx="552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Plus Jakarta Sans"/>
              </a:rPr>
              <a:t>42%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5456" y="1914525"/>
            <a:ext cx="2393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Plus Jakarta Sans"/>
              </a:rPr>
              <a:t>• Microclimate Temp Spike (+2.4°C)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3775" y="1914525"/>
            <a:ext cx="552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Plus Jakarta Sans"/>
              </a:rPr>
              <a:t>28%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5456" y="2095500"/>
            <a:ext cx="2464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E2E8F0"/>
                </a:solidFill>
                <a:latin typeface="Plus Jakarta Sans"/>
              </a:rPr>
              <a:t>• Vaccination Gap (&lt;38% FMD/Bruc)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72825" y="2095500"/>
            <a:ext cx="533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18%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6483"/>
            <a:ext cx="3270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60825" y="3056483"/>
            <a:ext cx="3270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12050" y="3056483"/>
            <a:ext cx="32702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2708"/>
            <a:ext cx="27177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00" y="3875633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050" y="3332708"/>
            <a:ext cx="27177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525" y="3875633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275" y="3332708"/>
            <a:ext cx="2717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5917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REVERSE EPIDEMIOLOGY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Bi-Directional Trace-Back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93440"/>
            <a:ext cx="558620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Connecting clinical admissions backward to their veterinary origins.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23183"/>
            <a:ext cx="2832050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Day 0: Index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525" y="3323183"/>
            <a:ext cx="2832050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Day -7 to 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8750" y="3323183"/>
            <a:ext cx="2832050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Plus Jakarta Sans"/>
              </a:rPr>
              <a:t>Day 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970883"/>
            <a:ext cx="356704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Acute Febrile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285208"/>
            <a:ext cx="2813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Hospital alerts flagged by IDSP weekly surveillance.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7050" y="3970883"/>
            <a:ext cx="356704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Stagnant Flooding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7050" y="4285208"/>
            <a:ext cx="2813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NDVI anomaly highlights vector breeding grounds.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8275" y="3970883"/>
            <a:ext cx="356704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Livestock Syndromes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8275" y="4285208"/>
            <a:ext cx="2813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NADRES veterinary syndromic signals isolated.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41914" y="2613570"/>
            <a:ext cx="4840485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41914" y="3575595"/>
            <a:ext cx="4840485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41914" y="4537620"/>
            <a:ext cx="4840485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41914" y="2613570"/>
            <a:ext cx="38100" cy="8096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41914" y="3575595"/>
            <a:ext cx="38100" cy="8096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1914" y="4537620"/>
            <a:ext cx="38100" cy="8096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65908"/>
            <a:ext cx="5827514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75433"/>
            <a:ext cx="5808464" cy="3409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76465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D.01 SPATIAL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Corridor &amp; Buffer Surveillance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93440"/>
            <a:ext cx="641464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Tracking transmission corridors across migratory routes and livestock mandis.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0514" y="2804070"/>
            <a:ext cx="52214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Livestock Market Transit Overlays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0514" y="3061245"/>
            <a:ext cx="522148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Tracks weekly inter-district cattle transit movement.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0514" y="3766095"/>
            <a:ext cx="52214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Dynamic 5km / 25km Buffers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0514" y="4023270"/>
            <a:ext cx="522148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Instant containment circles around identified clusters.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0514" y="4728120"/>
            <a:ext cx="52214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Eco-Climatic Vector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0514" y="4985295"/>
            <a:ext cx="522148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Vegetation index anomalies pinpointing vector habitats.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3158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23158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23158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23158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61283"/>
            <a:ext cx="21240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61283"/>
            <a:ext cx="21240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361283"/>
            <a:ext cx="21240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361283"/>
            <a:ext cx="21240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3231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ENGINEERING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 dirty="0">
                <a:solidFill>
                  <a:srgbClr val="0F172A"/>
                </a:solidFill>
                <a:latin typeface="Space Grotesk"/>
              </a:rPr>
              <a:t>Scalable Microservices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93440"/>
            <a:ext cx="62142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Built for sovereign cloud environments and low-bandwidth rural resilience.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42283"/>
            <a:ext cx="278784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Frontend &amp; 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28033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Next.js 14, Leaflet.js, and MapLibre choropleth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447133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Sub-second map rendering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742283"/>
            <a:ext cx="278784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ML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028033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FastAPI, Scikit-Learn Isolation Forest, and TreeSHAP.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4447133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Real-time risk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742283"/>
            <a:ext cx="278784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Spatial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028033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PostgreSQL + PostGIS spatial indexing and Redis cache.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447133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Fast spatial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742283"/>
            <a:ext cx="278784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028033"/>
            <a:ext cx="2219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Containerized multi-service setup on NIC Cloud / AWS.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4447133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National-scale readiness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5656" y="3123158"/>
            <a:ext cx="9525" cy="1714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1237" y="3123158"/>
            <a:ext cx="9525" cy="1714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36818" y="3123158"/>
            <a:ext cx="9525" cy="1714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2468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IMPACT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Epidemiological &amp; Economic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93440"/>
            <a:ext cx="552330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Benchmarked against existing retrospective surveillance protocols.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717" y="3394620"/>
            <a:ext cx="294382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D9488"/>
                </a:solidFill>
                <a:latin typeface="Plus Jakarta Sans"/>
              </a:rPr>
              <a:t>3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17" y="4156620"/>
            <a:ext cx="2943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Detection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717" y="4394745"/>
            <a:ext cx="29438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Down from 14-day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299" y="3394620"/>
            <a:ext cx="294382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D9488"/>
                </a:solidFill>
                <a:latin typeface="Plus Jakarta Sans"/>
              </a:rPr>
              <a:t>48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1299" y="4156620"/>
            <a:ext cx="2943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Response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1299" y="4394745"/>
            <a:ext cx="29438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Down from 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6880" y="3308895"/>
            <a:ext cx="294382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D9488"/>
                </a:solidFill>
                <a:latin typeface="Plus Jakarta Sans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6880" y="4070895"/>
            <a:ext cx="2943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Case Suppression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6880" y="4309020"/>
            <a:ext cx="294382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Prevents secondary transmission rings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2461" y="3394620"/>
            <a:ext cx="294382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D9488"/>
                </a:solidFill>
                <a:latin typeface="Plus Jakarta Sans"/>
              </a:rPr>
              <a:t>₹7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2461" y="4156620"/>
            <a:ext cx="2943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Loss 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2461" y="4394745"/>
            <a:ext cx="29438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Per prevented outbreak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8833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08833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08833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808833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808833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808833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51733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151733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151733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612" y="3342233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3342233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3342233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70399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D9488"/>
                </a:solidFill>
                <a:latin typeface="Space Grotesk"/>
              </a:rPr>
              <a:t>MULTIDISCIPLINARY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VetTech Trio • Bridging Clinic &amp;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093440"/>
            <a:ext cx="704891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Plus Jakarta Sans"/>
              </a:rPr>
              <a:t>The unique interdisciplinary blend essential to crack One Health predictive modeling.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" y="3913733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Parth Kantharia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18043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D9488"/>
                </a:solidFill>
                <a:latin typeface="Plus Jakarta Sans"/>
              </a:rPr>
              <a:t>TEAM LEAD • VETERINARY 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4447133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4th Year B.V.Sc &amp; A.H. Student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469478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34155"/>
                </a:solidFill>
                <a:latin typeface="Plus Jakarta Sans"/>
              </a:rPr>
              <a:t>Mumbai Veterinary College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5762" y="3913733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Priyal Kantharia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418043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2563EB"/>
                </a:solidFill>
                <a:latin typeface="Plus Jakarta Sans"/>
              </a:rPr>
              <a:t>SOFTWARE &amp; SYSTEMS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6250" y="4447133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Full-Stack &amp; GIS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50" y="469478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34155"/>
                </a:solidFill>
                <a:latin typeface="Plus Jakarta Sans"/>
              </a:rPr>
              <a:t>React, Leaflet &amp; Microservices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562" y="3913733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Plus Jakarta Sans"/>
              </a:rPr>
              <a:t>Rahul Bhojkar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0050" y="418043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7C3AED"/>
                </a:solidFill>
                <a:latin typeface="Plus Jakarta Sans"/>
              </a:rPr>
              <a:t>DATA &amp; MACHINE LEARNING 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0050" y="4447133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Predictive Modeling &amp; SHAP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0050" y="4694783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34155"/>
                </a:solidFill>
                <a:latin typeface="Plus Jakarta Sans"/>
              </a:rPr>
              <a:t>Isolation Forest &amp; Time-Series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27525" y="1619250"/>
            <a:ext cx="2736800" cy="285750"/>
          </a:xfrm>
          <a:prstGeom prst="roundRect">
            <a:avLst>
              <a:gd name="adj" fmla="val 50000"/>
            </a:avLst>
          </a:prstGeom>
          <a:solidFill>
            <a:srgbClr val="092024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73036" y="4865110"/>
            <a:ext cx="3480089" cy="585354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80414" y="4838699"/>
            <a:ext cx="4559877" cy="61176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450" y="1700212"/>
            <a:ext cx="142875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5049601"/>
            <a:ext cx="309130" cy="27048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310" y="4959548"/>
            <a:ext cx="279202" cy="279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5281" y="2095500"/>
            <a:ext cx="11501437" cy="2000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37"/>
              </a:lnSpc>
            </a:pPr>
            <a:r>
              <a:rPr sz="3150" b="1" i="0" u="none">
                <a:solidFill>
                  <a:srgbClr val="FFFFFF"/>
                </a:solidFill>
                <a:latin typeface="Space Grotesk"/>
              </a:rPr>
              <a:t>"Other dashboards tell you where disease has been.</a:t>
            </a:r>
            <a:r>
              <a:t>
</a:t>
            </a:r>
            <a:r>
              <a:rPr sz="3150" b="1" i="0" u="none">
                <a:solidFill>
                  <a:srgbClr val="14B8A6"/>
                </a:solidFill>
                <a:latin typeface="Space Grotesk"/>
              </a:rPr>
              <a:t>Spillover Radar tells you where it's going next — and why."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0515" y="4286250"/>
            <a:ext cx="775096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94A3B8"/>
                </a:solidFill>
                <a:latin typeface="Plus Jakarta Sans"/>
              </a:rPr>
              <a:t>VetTech Trio (H4P-VC587GBK) • Tech for the Herd • Rural Innovation &amp; One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722" y="1685925"/>
            <a:ext cx="2718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4B8A6"/>
                </a:solidFill>
                <a:latin typeface="Space Grotesk"/>
              </a:rPr>
              <a:t>HACK4PASHUDHAN • FINAL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186" y="5003899"/>
            <a:ext cx="371453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E2E8F0"/>
                </a:solidFill>
                <a:latin typeface="Plus Jakarta Sans"/>
              </a:rPr>
              <a:t>Team ID: H4P-VC587GBK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809" y="4974831"/>
            <a:ext cx="409748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600" b="1" dirty="0">
                <a:solidFill>
                  <a:srgbClr val="E2E8F0"/>
                </a:solidFill>
                <a:latin typeface="Plus Jakarta Sans"/>
              </a:rPr>
              <a:t>https://github.com/priyalk16/spillover-radar</a:t>
            </a:r>
            <a:endParaRPr sz="1600" b="1" i="0" u="none" dirty="0">
              <a:solidFill>
                <a:srgbClr val="E2E8F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938</Words>
  <Application>Microsoft Office PowerPoint</Application>
  <PresentationFormat>Widescreen</PresentationFormat>
  <Paragraphs>184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Priyal Kantharia</dc:creator>
  <cp:keywords/>
  <dc:description>generated using python-pptx</dc:description>
  <cp:lastModifiedBy>priyalkantharia-cmpn@atharvacoe.ac.in</cp:lastModifiedBy>
  <cp:revision>2</cp:revision>
  <dcterms:created xsi:type="dcterms:W3CDTF">2013-01-27T09:14:16Z</dcterms:created>
  <dcterms:modified xsi:type="dcterms:W3CDTF">2026-10-15T17:13:56Z</dcterms:modified>
  <cp:category/>
</cp:coreProperties>
</file>